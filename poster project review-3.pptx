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445" y="-32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lh_logo_exac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73152"/>
            <a:ext cx="3520440" cy="8961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9848" y="965666"/>
            <a:ext cx="54406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122B4F"/>
                </a:solidFill>
                <a:latin typeface="Aptos Display"/>
              </a:rPr>
              <a:t>Cinema Seat Booking System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1508760" y="1481328"/>
            <a:ext cx="4526280" cy="347472"/>
          </a:xfrm>
          <a:prstGeom prst="parallelogram">
            <a:avLst/>
          </a:prstGeom>
          <a:solidFill>
            <a:srgbClr val="F7C160"/>
          </a:solidFill>
          <a:ln>
            <a:solidFill>
              <a:srgbClr val="F7C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00200" y="1499616"/>
            <a:ext cx="4343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63147"/>
                </a:solidFill>
                <a:latin typeface="Aptos"/>
              </a:rPr>
              <a:t>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309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92B47"/>
                </a:solidFill>
                <a:latin typeface="Aptos"/>
              </a:rPr>
              <a:t>PROJECT BASED ON JAVA (LOCAL CONSOLE APPLICATION)</a:t>
            </a:r>
          </a:p>
        </p:txBody>
      </p:sp>
      <p:sp>
        <p:nvSpPr>
          <p:cNvPr id="7" name="Oval 6"/>
          <p:cNvSpPr/>
          <p:nvPr/>
        </p:nvSpPr>
        <p:spPr>
          <a:xfrm>
            <a:off x="137160" y="1078992"/>
            <a:ext cx="411480" cy="411480"/>
          </a:xfrm>
          <a:prstGeom prst="ellipse">
            <a:avLst/>
          </a:prstGeom>
          <a:solidFill>
            <a:srgbClr val="F0BF4C"/>
          </a:solidFill>
          <a:ln>
            <a:solidFill>
              <a:srgbClr val="F0B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812280" y="1078992"/>
            <a:ext cx="411480" cy="411480"/>
          </a:xfrm>
          <a:prstGeom prst="ellipse">
            <a:avLst/>
          </a:prstGeom>
          <a:solidFill>
            <a:srgbClr val="F0BF4C"/>
          </a:solidFill>
          <a:ln>
            <a:solidFill>
              <a:srgbClr val="F0B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8600" y="2212848"/>
            <a:ext cx="3456432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26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28600" y="2212848"/>
            <a:ext cx="3456432" cy="365760"/>
          </a:xfrm>
          <a:prstGeom prst="roundRect">
            <a:avLst/>
          </a:prstGeom>
          <a:solidFill>
            <a:srgbClr val="F26916"/>
          </a:solidFill>
          <a:ln>
            <a:solidFill>
              <a:srgbClr val="F26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" y="2221992"/>
            <a:ext cx="3136391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Abstract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212848"/>
            <a:ext cx="3493008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40480" y="2212848"/>
            <a:ext cx="3493008" cy="365760"/>
          </a:xfrm>
          <a:prstGeom prst="roundRect">
            <a:avLst/>
          </a:prstGeom>
          <a:solidFill>
            <a:srgbClr val="169667"/>
          </a:solidFill>
          <a:ln>
            <a:solidFill>
              <a:srgbClr val="16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05072" y="2221992"/>
            <a:ext cx="3172968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System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5072" y="2770632"/>
            <a:ext cx="868680" cy="438912"/>
          </a:xfrm>
          <a:prstGeom prst="roundRect">
            <a:avLst/>
          </a:prstGeom>
          <a:solidFill>
            <a:srgbClr val="ECF6F1"/>
          </a:solidFill>
          <a:ln>
            <a:solidFill>
              <a:srgbClr val="16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32504" y="2798064"/>
            <a:ext cx="81381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19463E"/>
                </a:solidFill>
                <a:latin typeface="Aptos"/>
              </a:rPr>
              <a:t>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488" y="2770632"/>
            <a:ext cx="868680" cy="438912"/>
          </a:xfrm>
          <a:prstGeom prst="roundRect">
            <a:avLst/>
          </a:prstGeom>
          <a:solidFill>
            <a:srgbClr val="ECF6F1"/>
          </a:solidFill>
          <a:ln>
            <a:solidFill>
              <a:srgbClr val="16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0" y="2798064"/>
            <a:ext cx="81381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19463E"/>
                </a:solidFill>
                <a:latin typeface="Aptos"/>
              </a:rPr>
              <a:t>Java
Console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770632"/>
            <a:ext cx="868680" cy="438912"/>
          </a:xfrm>
          <a:prstGeom prst="roundRect">
            <a:avLst/>
          </a:prstGeom>
          <a:solidFill>
            <a:srgbClr val="ECF6F1"/>
          </a:solidFill>
          <a:ln>
            <a:solidFill>
              <a:srgbClr val="16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08192" y="2798064"/>
            <a:ext cx="81381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19463E"/>
                </a:solidFill>
                <a:latin typeface="Aptos"/>
              </a:rPr>
              <a:t>Seat Data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82896" y="2880360"/>
            <a:ext cx="201168" cy="182880"/>
          </a:xfrm>
          <a:prstGeom prst="rightArrow">
            <a:avLst/>
          </a:prstGeom>
          <a:solidFill>
            <a:srgbClr val="169667"/>
          </a:solidFill>
          <a:ln>
            <a:solidFill>
              <a:srgbClr val="16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5916168" y="2880360"/>
            <a:ext cx="201168" cy="182880"/>
          </a:xfrm>
          <a:prstGeom prst="rightArrow">
            <a:avLst/>
          </a:prstGeom>
          <a:solidFill>
            <a:srgbClr val="169667"/>
          </a:solidFill>
          <a:ln>
            <a:solidFill>
              <a:srgbClr val="169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0" y="3282696"/>
            <a:ext cx="2788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40" b="0">
                <a:solidFill>
                  <a:srgbClr val="233C37"/>
                </a:solidFill>
                <a:latin typeface="Aptos"/>
              </a:rPr>
              <a:t>Input → Booking Logic → Seat Status / Receipt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590288"/>
            <a:ext cx="6995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162B4B"/>
                </a:solidFill>
                <a:latin typeface="Aptos"/>
              </a:rPr>
              <a:t>CO-WISE IMPLEMENTATION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736592"/>
            <a:ext cx="777240" cy="10972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4736592"/>
            <a:ext cx="868680" cy="10972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28600" y="4846320"/>
            <a:ext cx="3456432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A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28600" y="4846320"/>
            <a:ext cx="3456432" cy="365760"/>
          </a:xfrm>
          <a:prstGeom prst="roundRect">
            <a:avLst/>
          </a:prstGeom>
          <a:solidFill>
            <a:srgbClr val="2A71CC"/>
          </a:solidFill>
          <a:ln>
            <a:solidFill>
              <a:srgbClr val="2A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6616" y="4855464"/>
            <a:ext cx="603504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879382"/>
            <a:ext cx="211917" cy="2539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FFFFFF"/>
                </a:solidFill>
                <a:latin typeface="Aptos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" y="5276088"/>
            <a:ext cx="3236976" cy="886968"/>
          </a:xfrm>
          <a:prstGeom prst="rect">
            <a:avLst/>
          </a:prstGeom>
          <a:solidFill>
            <a:srgbClr val="1E1E1E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381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static Scanner sc = new Scanner(System.in);</a:t>
            </a:r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int choice = readChoice(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    "Enter your choice: ", 1, 7);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0" y="4846320"/>
            <a:ext cx="3456432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840480" y="4846320"/>
            <a:ext cx="3456432" cy="365760"/>
          </a:xfrm>
          <a:prstGeom prst="roundRect">
            <a:avLst/>
          </a:prstGeom>
          <a:solidFill>
            <a:srgbClr val="7C53BE"/>
          </a:solidFill>
          <a:ln>
            <a:solidFill>
              <a:srgbClr val="7C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68496" y="4855464"/>
            <a:ext cx="603504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0208" y="5276088"/>
            <a:ext cx="3236976" cy="886968"/>
          </a:xfrm>
          <a:prstGeom prst="rect">
            <a:avLst/>
          </a:prstGeom>
          <a:solidFill>
            <a:srgbClr val="1E1E1E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381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do {</a:t>
            </a:r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    switch (choice)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        case 1: showMovies();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        case 4: bookSeats();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} while (choice != 7);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" y="6327648"/>
            <a:ext cx="3456432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E6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28600" y="6327648"/>
            <a:ext cx="3456432" cy="365760"/>
          </a:xfrm>
          <a:prstGeom prst="roundRect">
            <a:avLst/>
          </a:prstGeom>
          <a:solidFill>
            <a:srgbClr val="EE6817"/>
          </a:solidFill>
          <a:ln>
            <a:solidFill>
              <a:srgbClr val="EE6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6616" y="6336792"/>
            <a:ext cx="603504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" y="6757416"/>
            <a:ext cx="3236976" cy="886968"/>
          </a:xfrm>
          <a:prstGeom prst="rect">
            <a:avLst/>
          </a:prstGeom>
          <a:solidFill>
            <a:srgbClr val="1E1E1E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381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static int[][] avengersSeats = new int[3][30];</a:t>
            </a:r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for (int i = 0; i &lt; 30; i++)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    if (currentSeats[show][i] == 0) available++;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0" y="6327648"/>
            <a:ext cx="3456432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3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840480" y="6327648"/>
            <a:ext cx="3456432" cy="365760"/>
          </a:xfrm>
          <a:prstGeom prst="roundRect">
            <a:avLst/>
          </a:prstGeom>
          <a:solidFill>
            <a:srgbClr val="139170"/>
          </a:solidFill>
          <a:ln>
            <a:solidFill>
              <a:srgbClr val="13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68496" y="6336792"/>
            <a:ext cx="603504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50208" y="6757416"/>
            <a:ext cx="3236976" cy="886968"/>
          </a:xfrm>
          <a:prstGeom prst="rect">
            <a:avLst/>
          </a:prstGeom>
          <a:solidFill>
            <a:srgbClr val="1E1E1E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381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catch (IOException e) {</a:t>
            </a:r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    System.out.println("Unable to save");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8600" y="7808975"/>
            <a:ext cx="3456432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28600" y="7808975"/>
            <a:ext cx="3456432" cy="365760"/>
          </a:xfrm>
          <a:prstGeom prst="roundRect">
            <a:avLst/>
          </a:prstGeom>
          <a:solidFill>
            <a:srgbClr val="CF235E"/>
          </a:solidFill>
          <a:ln>
            <a:solidFill>
              <a:srgbClr val="CF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56616" y="7818119"/>
            <a:ext cx="603504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328" y="8225027"/>
            <a:ext cx="3236976" cy="886968"/>
          </a:xfrm>
          <a:prstGeom prst="rect">
            <a:avLst/>
          </a:prstGeom>
          <a:solidFill>
            <a:srgbClr val="1E1E1E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381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try (PrintWriter out = new PrintWriter("cinema_seats.txt")) {</a:t>
            </a:r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    saveMovieSeats(out, avengersSeats);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    saveMovieSeats(out, interstellarSeats);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    saveMovieSeats(out, inceptionSeats);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40480" y="7808975"/>
            <a:ext cx="3456432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29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840480" y="7808975"/>
            <a:ext cx="3456432" cy="365760"/>
          </a:xfrm>
          <a:prstGeom prst="roundRect">
            <a:avLst/>
          </a:prstGeom>
          <a:solidFill>
            <a:srgbClr val="2291C9"/>
          </a:solidFill>
          <a:ln>
            <a:solidFill>
              <a:srgbClr val="229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68496" y="7818119"/>
            <a:ext cx="603504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50208" y="8238744"/>
            <a:ext cx="3236976" cy="886968"/>
          </a:xfrm>
          <a:prstGeom prst="rect">
            <a:avLst/>
          </a:prstGeom>
          <a:solidFill>
            <a:srgbClr val="1E1E1E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88900" tIns="50800" rIns="63500" bIns="38100" rtlCol="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D4D4D4"/>
                </a:solidFill>
                <a:latin typeface="Consolas"/>
              </a:rPr>
              <a:t>static void </a:t>
            </a:r>
            <a:r>
              <a:rPr sz="850" dirty="0" err="1">
                <a:solidFill>
                  <a:srgbClr val="D4D4D4"/>
                </a:solidFill>
                <a:latin typeface="Consolas"/>
              </a:rPr>
              <a:t>recommendSeats</a:t>
            </a:r>
            <a:r>
              <a:rPr sz="850" dirty="0">
                <a:solidFill>
                  <a:srgbClr val="D4D4D4"/>
                </a:solidFill>
                <a:latin typeface="Consolas"/>
              </a:rPr>
              <a:t>(int movie, int show, int count)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D4D4D4"/>
                </a:solidFill>
                <a:latin typeface="Consolas"/>
              </a:rPr>
              <a:t>    int[][] </a:t>
            </a:r>
            <a:r>
              <a:rPr sz="850" dirty="0" err="1">
                <a:solidFill>
                  <a:srgbClr val="D4D4D4"/>
                </a:solidFill>
                <a:latin typeface="Consolas"/>
              </a:rPr>
              <a:t>currentSeats</a:t>
            </a:r>
            <a:r>
              <a:rPr sz="85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850" dirty="0" err="1">
                <a:solidFill>
                  <a:srgbClr val="D4D4D4"/>
                </a:solidFill>
                <a:latin typeface="Consolas"/>
              </a:rPr>
              <a:t>getSeats</a:t>
            </a:r>
            <a:r>
              <a:rPr sz="850" dirty="0">
                <a:solidFill>
                  <a:srgbClr val="D4D4D4"/>
                </a:solidFill>
                <a:latin typeface="Consolas"/>
              </a:rPr>
              <a:t>(movie);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850" dirty="0" err="1">
                <a:solidFill>
                  <a:srgbClr val="D4D4D4"/>
                </a:solidFill>
                <a:latin typeface="Consolas"/>
              </a:rPr>
              <a:t>System.out.println</a:t>
            </a:r>
            <a:r>
              <a:rPr sz="850" dirty="0">
                <a:solidFill>
                  <a:srgbClr val="D4D4D4"/>
                </a:solidFill>
                <a:latin typeface="Consolas"/>
              </a:rPr>
              <a:t>("\n== SEAT RECOMMENDATIONS</a:t>
            </a:r>
            <a:r>
              <a:rPr lang="en-IN" sz="850" dirty="0">
                <a:solidFill>
                  <a:srgbClr val="D4D4D4"/>
                </a:solidFill>
                <a:latin typeface="Consolas"/>
              </a:rPr>
              <a:t> =</a:t>
            </a:r>
            <a:r>
              <a:rPr sz="850" dirty="0">
                <a:solidFill>
                  <a:srgbClr val="D4D4D4"/>
                </a:solidFill>
                <a:latin typeface="Consolas"/>
              </a:rPr>
              <a:t>=");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D4D4D4"/>
                </a:solidFill>
                <a:latin typeface="Consolas"/>
              </a:rPr>
              <a:t>    if (count == 1)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D4D4D4"/>
                </a:solidFill>
                <a:latin typeface="Consolas"/>
              </a:rPr>
              <a:t>        int[] </a:t>
            </a:r>
            <a:r>
              <a:rPr sz="850" dirty="0" err="1">
                <a:solidFill>
                  <a:srgbClr val="D4D4D4"/>
                </a:solidFill>
                <a:latin typeface="Consolas"/>
              </a:rPr>
              <a:t>preferredSeats</a:t>
            </a:r>
            <a:r>
              <a:rPr sz="850" dirty="0">
                <a:solidFill>
                  <a:srgbClr val="D4D4D4"/>
                </a:solidFill>
                <a:latin typeface="Consolas"/>
              </a:rPr>
              <a:t> = {14, 15, 8, 9, 20, 21};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D4D4D4"/>
                </a:solidFill>
                <a:latin typeface="Consolas"/>
              </a:rPr>
              <a:t>        </a:t>
            </a:r>
            <a:r>
              <a:rPr sz="850" dirty="0" err="1">
                <a:solidFill>
                  <a:srgbClr val="D4D4D4"/>
                </a:solidFill>
                <a:latin typeface="Consolas"/>
              </a:rPr>
              <a:t>boolean</a:t>
            </a:r>
            <a:r>
              <a:rPr sz="850" dirty="0">
                <a:solidFill>
                  <a:srgbClr val="D4D4D4"/>
                </a:solidFill>
                <a:latin typeface="Consolas"/>
              </a:rPr>
              <a:t> found = false;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D4D4D4"/>
                </a:solidFill>
                <a:latin typeface="Consolas"/>
              </a:rPr>
              <a:t>        ...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8600" y="9308592"/>
            <a:ext cx="7104888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4B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228600" y="9308592"/>
            <a:ext cx="7104888" cy="310896"/>
          </a:xfrm>
          <a:prstGeom prst="roundRect">
            <a:avLst/>
          </a:prstGeom>
          <a:solidFill>
            <a:srgbClr val="F4B22A"/>
          </a:solidFill>
          <a:ln>
            <a:solidFill>
              <a:srgbClr val="F4B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3192" y="9326880"/>
            <a:ext cx="678484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" y="9591825"/>
            <a:ext cx="694944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900" b="1" dirty="0"/>
              <a:t>Conclusion: This project uses core Java concepts to deliver a clear, error-free seat booking flow in the console, with validation and no double bookings.</a:t>
            </a:r>
            <a:br>
              <a:rPr lang="en-IN" sz="900" b="1" dirty="0"/>
            </a:br>
            <a:r>
              <a:rPr lang="en-IN" sz="900" b="1" dirty="0"/>
              <a:t>Future Scope: a web/graphical interface, a database for permanent records, user login, online payments, show selection, ticket generation</a:t>
            </a:r>
            <a:r>
              <a:rPr sz="860" b="0" dirty="0">
                <a:solidFill>
                  <a:srgbClr val="252B38"/>
                </a:solidFill>
                <a:latin typeface="Aptos"/>
              </a:rPr>
              <a:t>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7744" y="10163433"/>
            <a:ext cx="7104888" cy="438912"/>
          </a:xfrm>
          <a:prstGeom prst="roundRect">
            <a:avLst/>
          </a:prstGeom>
          <a:solidFill>
            <a:srgbClr val="FFF4D5"/>
          </a:solidFill>
          <a:ln w="13970">
            <a:solidFill>
              <a:srgbClr val="EFC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3" name="TextBox 62"/>
          <p:cNvSpPr txBox="1"/>
          <p:nvPr/>
        </p:nvSpPr>
        <p:spPr>
          <a:xfrm>
            <a:off x="438912" y="10189649"/>
            <a:ext cx="106984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B48"/>
                </a:solidFill>
                <a:latin typeface="Aptos"/>
              </a:rPr>
              <a:t>Section - 2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74519" y="10213848"/>
            <a:ext cx="10972" cy="2286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057400" y="10177272"/>
            <a:ext cx="44805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 dirty="0">
                <a:solidFill>
                  <a:srgbClr val="192B48"/>
                </a:solidFill>
                <a:latin typeface="Aptos"/>
              </a:rPr>
              <a:t>Vayyala Dhikshitha  -  2620030310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10369296"/>
            <a:ext cx="44805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192B48"/>
                </a:solidFill>
                <a:latin typeface="Aptos"/>
              </a:rPr>
              <a:t>Rishvika Reddy  -  2620080099</a:t>
            </a:r>
          </a:p>
        </p:txBody>
      </p:sp>
      <p:sp>
        <p:nvSpPr>
          <p:cNvPr id="67" name="Oval 66"/>
          <p:cNvSpPr/>
          <p:nvPr/>
        </p:nvSpPr>
        <p:spPr>
          <a:xfrm>
            <a:off x="109728" y="10607040"/>
            <a:ext cx="256032" cy="256032"/>
          </a:xfrm>
          <a:prstGeom prst="ellipse">
            <a:avLst/>
          </a:prstGeom>
          <a:solidFill>
            <a:srgbClr val="DCEBFA"/>
          </a:solidFill>
          <a:ln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059168" y="10607040"/>
            <a:ext cx="256032" cy="256032"/>
          </a:xfrm>
          <a:prstGeom prst="ellipse">
            <a:avLst/>
          </a:prstGeom>
          <a:solidFill>
            <a:srgbClr val="DCEBFA"/>
          </a:solidFill>
          <a:ln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228600" y="3730752"/>
            <a:ext cx="7104888" cy="804672"/>
          </a:xfrm>
          <a:prstGeom prst="roundRect">
            <a:avLst/>
          </a:prstGeom>
          <a:noFill/>
          <a:ln w="15240">
            <a:solidFill>
              <a:srgbClr val="233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251098" y="3744468"/>
            <a:ext cx="7045814" cy="139364"/>
          </a:xfrm>
          <a:prstGeom prst="roundRect">
            <a:avLst/>
          </a:prstGeom>
          <a:solidFill>
            <a:srgbClr val="1C4268"/>
          </a:solidFill>
          <a:ln>
            <a:solidFill>
              <a:srgbClr val="1C4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8442" y="3739896"/>
            <a:ext cx="6766560" cy="256032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System Workflow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021630-5EF9-BFD8-6747-D335DC06011F}"/>
              </a:ext>
            </a:extLst>
          </p:cNvPr>
          <p:cNvSpPr txBox="1"/>
          <p:nvPr/>
        </p:nvSpPr>
        <p:spPr>
          <a:xfrm>
            <a:off x="338328" y="2640675"/>
            <a:ext cx="32644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The cinema seat booking system is a mini-Java console application that lets users view seats, book, cancel, and check booking history from one menu. It validates inputs, prevents double bookings, updates availability in real time, and prints a ticket receipt, built with core Java concepts such as arrays, loops, conditionals, and methods.</a:t>
            </a:r>
            <a:endParaRPr lang="en-US" sz="919" b="1" dirty="0">
              <a:solidFill>
                <a:srgbClr val="222A39"/>
              </a:solidFill>
              <a:latin typeface="Aptos"/>
            </a:endParaRPr>
          </a:p>
        </p:txBody>
      </p:sp>
      <p:sp>
        <p:nvSpPr>
          <p:cNvPr id="101" name="WF Step 1"/>
          <p:cNvSpPr/>
          <p:nvPr/>
        </p:nvSpPr>
        <p:spPr>
          <a:xfrm>
            <a:off x="338600" y="4085000"/>
            <a:ext cx="800000" cy="310000"/>
          </a:xfrm>
          <a:prstGeom prst="roundRect">
            <a:avLst/>
          </a:prstGeom>
          <a:solidFill>
            <a:srgbClr val="F26916"/>
          </a:solidFill>
          <a:ln w="12700">
            <a:solidFill>
              <a:srgbClr val="F26916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Start</a:t>
            </a:r>
          </a:p>
        </p:txBody>
      </p:sp>
      <p:sp>
        <p:nvSpPr>
          <p:cNvPr id="102" name="WF Caption 1"/>
          <p:cNvSpPr txBox="1"/>
          <p:nvPr/>
        </p:nvSpPr>
        <p:spPr>
          <a:xfrm>
            <a:off x="246526" y="4417000"/>
            <a:ext cx="984148" cy="1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0" dirty="0">
                <a:solidFill>
                  <a:srgbClr val="233E59"/>
                </a:solidFill>
                <a:latin typeface="Arial"/>
                <a:cs typeface="Arial"/>
              </a:rPr>
              <a:t>Run program</a:t>
            </a:r>
          </a:p>
        </p:txBody>
      </p:sp>
      <p:sp>
        <p:nvSpPr>
          <p:cNvPr id="103" name="WF Step 2"/>
          <p:cNvSpPr/>
          <p:nvPr/>
        </p:nvSpPr>
        <p:spPr>
          <a:xfrm>
            <a:off x="1352748" y="4085000"/>
            <a:ext cx="800000" cy="310000"/>
          </a:xfrm>
          <a:prstGeom prst="roundRect">
            <a:avLst/>
          </a:prstGeom>
          <a:solidFill>
            <a:srgbClr val="1C4268"/>
          </a:solidFill>
          <a:ln w="12700">
            <a:solidFill>
              <a:srgbClr val="1C4268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Display</a:t>
            </a:r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Menu</a:t>
            </a:r>
          </a:p>
        </p:txBody>
      </p:sp>
      <p:sp>
        <p:nvSpPr>
          <p:cNvPr id="104" name="WF Caption 2"/>
          <p:cNvSpPr txBox="1"/>
          <p:nvPr/>
        </p:nvSpPr>
        <p:spPr>
          <a:xfrm>
            <a:off x="1260674" y="4417000"/>
            <a:ext cx="984148" cy="1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0" dirty="0">
                <a:solidFill>
                  <a:srgbClr val="233E59"/>
                </a:solidFill>
                <a:latin typeface="Arial"/>
                <a:cs typeface="Arial"/>
              </a:rPr>
              <a:t>Show operations</a:t>
            </a:r>
          </a:p>
        </p:txBody>
      </p:sp>
      <p:sp>
        <p:nvSpPr>
          <p:cNvPr id="105" name="WF Step 3"/>
          <p:cNvSpPr/>
          <p:nvPr/>
        </p:nvSpPr>
        <p:spPr>
          <a:xfrm>
            <a:off x="2366896" y="4085000"/>
            <a:ext cx="800000" cy="310000"/>
          </a:xfrm>
          <a:prstGeom prst="roundRect">
            <a:avLst/>
          </a:prstGeom>
          <a:solidFill>
            <a:srgbClr val="1C4268"/>
          </a:solidFill>
          <a:ln w="12700">
            <a:solidFill>
              <a:srgbClr val="1C4268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Choose</a:t>
            </a:r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Operation</a:t>
            </a:r>
          </a:p>
        </p:txBody>
      </p:sp>
      <p:sp>
        <p:nvSpPr>
          <p:cNvPr id="106" name="WF Caption 3"/>
          <p:cNvSpPr txBox="1"/>
          <p:nvPr/>
        </p:nvSpPr>
        <p:spPr>
          <a:xfrm>
            <a:off x="2274822" y="4417000"/>
            <a:ext cx="984148" cy="1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0" dirty="0">
                <a:solidFill>
                  <a:srgbClr val="233E59"/>
                </a:solidFill>
                <a:latin typeface="Arial"/>
                <a:cs typeface="Arial"/>
              </a:rPr>
              <a:t>Select a task</a:t>
            </a:r>
          </a:p>
        </p:txBody>
      </p:sp>
      <p:sp>
        <p:nvSpPr>
          <p:cNvPr id="107" name="WF Step 4"/>
          <p:cNvSpPr/>
          <p:nvPr/>
        </p:nvSpPr>
        <p:spPr>
          <a:xfrm>
            <a:off x="3381044" y="4085000"/>
            <a:ext cx="800000" cy="310000"/>
          </a:xfrm>
          <a:prstGeom prst="roundRect">
            <a:avLst/>
          </a:prstGeom>
          <a:solidFill>
            <a:srgbClr val="169667"/>
          </a:solidFill>
          <a:ln w="12700">
            <a:solidFill>
              <a:srgbClr val="169667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Validate</a:t>
            </a:r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Input</a:t>
            </a:r>
          </a:p>
        </p:txBody>
      </p:sp>
      <p:sp>
        <p:nvSpPr>
          <p:cNvPr id="108" name="WF Caption 4"/>
          <p:cNvSpPr txBox="1"/>
          <p:nvPr/>
        </p:nvSpPr>
        <p:spPr>
          <a:xfrm>
            <a:off x="3288970" y="4417000"/>
            <a:ext cx="984148" cy="1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0" dirty="0">
                <a:solidFill>
                  <a:srgbClr val="233E59"/>
                </a:solidFill>
                <a:latin typeface="Arial"/>
                <a:cs typeface="Arial"/>
              </a:rPr>
              <a:t>Invalid → re-enter</a:t>
            </a:r>
          </a:p>
        </p:txBody>
      </p:sp>
      <p:sp>
        <p:nvSpPr>
          <p:cNvPr id="109" name="WF Step 5"/>
          <p:cNvSpPr/>
          <p:nvPr/>
        </p:nvSpPr>
        <p:spPr>
          <a:xfrm>
            <a:off x="4395192" y="4085000"/>
            <a:ext cx="800000" cy="310000"/>
          </a:xfrm>
          <a:prstGeom prst="roundRect">
            <a:avLst/>
          </a:prstGeom>
          <a:solidFill>
            <a:srgbClr val="1C4268"/>
          </a:solidFill>
          <a:ln w="12700">
            <a:solidFill>
              <a:srgbClr val="1C4268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Update</a:t>
            </a:r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</a:p>
        </p:txBody>
      </p:sp>
      <p:sp>
        <p:nvSpPr>
          <p:cNvPr id="110" name="WF Caption 5"/>
          <p:cNvSpPr txBox="1"/>
          <p:nvPr/>
        </p:nvSpPr>
        <p:spPr>
          <a:xfrm>
            <a:off x="4303118" y="4417000"/>
            <a:ext cx="984148" cy="1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0" dirty="0">
                <a:solidFill>
                  <a:srgbClr val="233E59"/>
                </a:solidFill>
                <a:latin typeface="Arial"/>
                <a:cs typeface="Arial"/>
              </a:rPr>
              <a:t>Seat array updated</a:t>
            </a:r>
          </a:p>
        </p:txBody>
      </p:sp>
      <p:sp>
        <p:nvSpPr>
          <p:cNvPr id="111" name="WF Step 6"/>
          <p:cNvSpPr/>
          <p:nvPr/>
        </p:nvSpPr>
        <p:spPr>
          <a:xfrm>
            <a:off x="5409340" y="4085000"/>
            <a:ext cx="800000" cy="310000"/>
          </a:xfrm>
          <a:prstGeom prst="roundRect">
            <a:avLst/>
          </a:prstGeom>
          <a:solidFill>
            <a:srgbClr val="1C4268"/>
          </a:solidFill>
          <a:ln w="12700">
            <a:solidFill>
              <a:srgbClr val="1C4268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Show</a:t>
            </a:r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Result</a:t>
            </a:r>
          </a:p>
        </p:txBody>
      </p:sp>
      <p:sp>
        <p:nvSpPr>
          <p:cNvPr id="112" name="WF Caption 6"/>
          <p:cNvSpPr txBox="1"/>
          <p:nvPr/>
        </p:nvSpPr>
        <p:spPr>
          <a:xfrm>
            <a:off x="5317266" y="4417000"/>
            <a:ext cx="984148" cy="1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0" dirty="0">
                <a:solidFill>
                  <a:srgbClr val="233E59"/>
                </a:solidFill>
                <a:latin typeface="Arial"/>
                <a:cs typeface="Arial"/>
              </a:rPr>
              <a:t>Seat map &amp; receipt</a:t>
            </a:r>
          </a:p>
        </p:txBody>
      </p:sp>
      <p:sp>
        <p:nvSpPr>
          <p:cNvPr id="113" name="WF Step 7"/>
          <p:cNvSpPr/>
          <p:nvPr/>
        </p:nvSpPr>
        <p:spPr>
          <a:xfrm>
            <a:off x="6423488" y="4085000"/>
            <a:ext cx="800000" cy="310000"/>
          </a:xfrm>
          <a:prstGeom prst="roundRect">
            <a:avLst/>
          </a:prstGeom>
          <a:solidFill>
            <a:srgbClr val="F26916"/>
          </a:solidFill>
          <a:ln w="12700">
            <a:solidFill>
              <a:srgbClr val="F26916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Return</a:t>
            </a:r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Arial"/>
                <a:cs typeface="Arial"/>
              </a:rPr>
              <a:t>or Exit</a:t>
            </a:r>
          </a:p>
        </p:txBody>
      </p:sp>
      <p:sp>
        <p:nvSpPr>
          <p:cNvPr id="114" name="WF Caption 7"/>
          <p:cNvSpPr txBox="1"/>
          <p:nvPr/>
        </p:nvSpPr>
        <p:spPr>
          <a:xfrm>
            <a:off x="6331414" y="4417000"/>
            <a:ext cx="984148" cy="1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0" dirty="0">
                <a:solidFill>
                  <a:srgbClr val="233E59"/>
                </a:solidFill>
                <a:latin typeface="Arial"/>
                <a:cs typeface="Arial"/>
              </a:rPr>
              <a:t>Menu or end</a:t>
            </a:r>
          </a:p>
        </p:txBody>
      </p:sp>
      <p:sp>
        <p:nvSpPr>
          <p:cNvPr id="115" name="WF Arrow 1"/>
          <p:cNvSpPr/>
          <p:nvPr/>
        </p:nvSpPr>
        <p:spPr>
          <a:xfrm>
            <a:off x="1181429" y="4175000"/>
            <a:ext cx="128488" cy="130000"/>
          </a:xfrm>
          <a:prstGeom prst="rightArrow">
            <a:avLst/>
          </a:prstGeom>
          <a:solidFill>
            <a:srgbClr val="1C4268"/>
          </a:solidFill>
          <a:ln w="12700">
            <a:solidFill>
              <a:srgbClr val="1C4268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6" name="WF Arrow 2"/>
          <p:cNvSpPr/>
          <p:nvPr/>
        </p:nvSpPr>
        <p:spPr>
          <a:xfrm>
            <a:off x="2195577" y="4175000"/>
            <a:ext cx="128488" cy="130000"/>
          </a:xfrm>
          <a:prstGeom prst="rightArrow">
            <a:avLst/>
          </a:prstGeom>
          <a:solidFill>
            <a:srgbClr val="1C4268"/>
          </a:solidFill>
          <a:ln w="12700">
            <a:solidFill>
              <a:srgbClr val="1C4268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7" name="WF Arrow 3"/>
          <p:cNvSpPr/>
          <p:nvPr/>
        </p:nvSpPr>
        <p:spPr>
          <a:xfrm>
            <a:off x="3209725" y="4175000"/>
            <a:ext cx="128488" cy="130000"/>
          </a:xfrm>
          <a:prstGeom prst="rightArrow">
            <a:avLst/>
          </a:prstGeom>
          <a:solidFill>
            <a:srgbClr val="1C4268"/>
          </a:solidFill>
          <a:ln w="12700">
            <a:solidFill>
              <a:srgbClr val="1C4268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8" name="WF Arrow 4"/>
          <p:cNvSpPr/>
          <p:nvPr/>
        </p:nvSpPr>
        <p:spPr>
          <a:xfrm>
            <a:off x="4223873" y="4175000"/>
            <a:ext cx="128488" cy="130000"/>
          </a:xfrm>
          <a:prstGeom prst="rightArrow">
            <a:avLst/>
          </a:prstGeom>
          <a:solidFill>
            <a:srgbClr val="1C4268"/>
          </a:solidFill>
          <a:ln w="12700">
            <a:solidFill>
              <a:srgbClr val="1C4268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9" name="WF Arrow 5"/>
          <p:cNvSpPr/>
          <p:nvPr/>
        </p:nvSpPr>
        <p:spPr>
          <a:xfrm>
            <a:off x="5238021" y="4175000"/>
            <a:ext cx="128488" cy="130000"/>
          </a:xfrm>
          <a:prstGeom prst="rightArrow">
            <a:avLst/>
          </a:prstGeom>
          <a:solidFill>
            <a:srgbClr val="1C4268"/>
          </a:solidFill>
          <a:ln w="12700">
            <a:solidFill>
              <a:srgbClr val="1C4268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0" name="WF Arrow 6"/>
          <p:cNvSpPr/>
          <p:nvPr/>
        </p:nvSpPr>
        <p:spPr>
          <a:xfrm>
            <a:off x="6252169" y="4175000"/>
            <a:ext cx="128488" cy="130000"/>
          </a:xfrm>
          <a:prstGeom prst="rightArrow">
            <a:avLst/>
          </a:prstGeom>
          <a:solidFill>
            <a:srgbClr val="1C4268"/>
          </a:solidFill>
          <a:ln w="12700">
            <a:solidFill>
              <a:srgbClr val="1C4268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1" name="TextBox 120"/>
          <p:cNvSpPr txBox="1"/>
          <p:nvPr/>
        </p:nvSpPr>
        <p:spPr>
          <a:xfrm>
            <a:off x="6054090" y="10304590"/>
            <a:ext cx="12344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  <a:latin typeface="Arial"/>
              </a:rPr>
              <a:t>FED 1st Year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442</Words>
  <Application>Microsoft Office PowerPoint</Application>
  <PresentationFormat>Custom</PresentationFormat>
  <Paragraphs>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 Seat Booking System - Editable Poster</dc:title>
  <dc:subject>Capstone Project</dc:subject>
  <dc:creator>Vayyala Dhikshitha and Rishvika Reddy</dc:creator>
  <cp:keywords/>
  <dc:description>generated using python-pptx</dc:description>
  <cp:lastModifiedBy>vayyala dhikshitha</cp:lastModifiedBy>
  <cp:revision>5</cp:revision>
  <dcterms:created xsi:type="dcterms:W3CDTF">2013-01-27T09:14:16Z</dcterms:created>
  <dcterms:modified xsi:type="dcterms:W3CDTF">2026-10-14T03:36:55Z</dcterms:modified>
  <cp:category/>
</cp:coreProperties>
</file>